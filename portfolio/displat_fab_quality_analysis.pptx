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24" y="9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D7521-0C7B-4240-B3A8-60E205A1A64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4FE20-307B-4824-8806-CBAD9347AA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F4FE20-307B-4824-8806-CBAD9347AAD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947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98000" y="0"/>
            <a:ext cx="2794000" cy="1397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8500" y="1647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8500" y="16605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8500" y="1701800"/>
            <a:ext cx="127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1800" y="1701800"/>
            <a:ext cx="127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5100" y="1701800"/>
            <a:ext cx="127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8400" y="1701800"/>
            <a:ext cx="127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1700" y="1701800"/>
            <a:ext cx="127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701800"/>
            <a:ext cx="127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8300" y="1701800"/>
            <a:ext cx="127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1600" y="1701800"/>
            <a:ext cx="127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4900" y="1701800"/>
            <a:ext cx="127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8200" y="1701800"/>
            <a:ext cx="1524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31500" y="1701800"/>
            <a:ext cx="1524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6500" y="1701800"/>
            <a:ext cx="1524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DDE0E3"/>
                </a:solidFill>
                <a:latin typeface="JetBrains Mono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54000"/>
            <a:ext cx="1016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0" y="254000"/>
            <a:ext cx="635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1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500" y="2159000"/>
            <a:ext cx="762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u="none">
                <a:solidFill>
                  <a:srgbClr val="3466B2"/>
                </a:solidFill>
                <a:latin typeface="JetBrains Mono"/>
              </a:rPr>
              <a:t>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499" y="2413000"/>
            <a:ext cx="10980045" cy="1968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 dirty="0" err="1">
                <a:solidFill>
                  <a:srgbClr val="1B2028"/>
                </a:solidFill>
                <a:latin typeface="JetBrains Mono"/>
              </a:rPr>
              <a:t>제조</a:t>
            </a:r>
            <a:r>
              <a:rPr sz="4400" b="1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4400" b="1" i="0" u="none" dirty="0" err="1">
                <a:solidFill>
                  <a:srgbClr val="1B2028"/>
                </a:solidFill>
                <a:latin typeface="JetBrains Mono"/>
              </a:rPr>
              <a:t>공정</a:t>
            </a:r>
            <a:r>
              <a:rPr sz="4400" b="1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4400" b="1" i="0" u="none" dirty="0" err="1">
                <a:solidFill>
                  <a:srgbClr val="1B2028"/>
                </a:solidFill>
                <a:latin typeface="JetBrains Mono"/>
              </a:rPr>
              <a:t>센서</a:t>
            </a:r>
            <a:r>
              <a:rPr sz="4400" b="1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4400" b="1" i="0" u="none" dirty="0" err="1">
                <a:solidFill>
                  <a:srgbClr val="1B2028"/>
                </a:solidFill>
                <a:latin typeface="JetBrains Mono"/>
              </a:rPr>
              <a:t>데이터를</a:t>
            </a:r>
            <a:r>
              <a:rPr sz="4400" b="1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4400" b="1" i="0" u="none" dirty="0" err="1">
                <a:solidFill>
                  <a:srgbClr val="1B2028"/>
                </a:solidFill>
                <a:latin typeface="JetBrains Mono"/>
              </a:rPr>
              <a:t>활용한</a:t>
            </a:r>
            <a:endParaRPr sz="4400" b="1" i="0" u="none" dirty="0">
              <a:solidFill>
                <a:srgbClr val="1B2028"/>
              </a:solidFill>
              <a:latin typeface="JetBrains Mono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 dirty="0" err="1">
                <a:solidFill>
                  <a:srgbClr val="1B2028"/>
                </a:solidFill>
                <a:latin typeface="JetBrains Mono"/>
              </a:rPr>
              <a:t>디스플레이</a:t>
            </a:r>
            <a:r>
              <a:rPr sz="4400" b="1" i="0" u="none" dirty="0">
                <a:solidFill>
                  <a:srgbClr val="1B2028"/>
                </a:solidFill>
                <a:latin typeface="JetBrains Mono"/>
              </a:rPr>
              <a:t> Fab </a:t>
            </a:r>
            <a:r>
              <a:rPr sz="4400" b="1" i="0" u="none" dirty="0" err="1">
                <a:solidFill>
                  <a:srgbClr val="1B2028"/>
                </a:solidFill>
                <a:latin typeface="JetBrains Mono"/>
              </a:rPr>
              <a:t>불량</a:t>
            </a:r>
            <a:r>
              <a:rPr sz="4400" b="1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4400" b="1" i="0" u="none" dirty="0" err="1">
                <a:solidFill>
                  <a:srgbClr val="1B2028"/>
                </a:solidFill>
                <a:latin typeface="JetBrains Mono"/>
              </a:rPr>
              <a:t>예측</a:t>
            </a:r>
            <a:r>
              <a:rPr sz="4400" b="1" i="0" u="none" dirty="0">
                <a:solidFill>
                  <a:srgbClr val="1B2028"/>
                </a:solidFill>
                <a:latin typeface="JetBrains Mono"/>
              </a:rPr>
              <a:t> 및</a:t>
            </a:r>
            <a:r>
              <a:rPr lang="en-US" sz="4400" b="1" i="0" u="none" dirty="0">
                <a:solidFill>
                  <a:srgbClr val="1B2028"/>
                </a:solidFill>
                <a:latin typeface="JetBrains Mono"/>
              </a:rPr>
              <a:t>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4400" b="1" i="0" u="none" dirty="0">
                <a:solidFill>
                  <a:srgbClr val="1B2028"/>
                </a:solidFill>
                <a:latin typeface="JetBrains Mono"/>
              </a:rPr>
              <a:t>주요 영향인자분석</a:t>
            </a:r>
            <a:endParaRPr sz="4400" b="1" i="0" u="none" dirty="0">
              <a:solidFill>
                <a:srgbClr val="1B2028"/>
              </a:solidFill>
              <a:latin typeface="JetBrains Mon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8500" y="4572000"/>
            <a:ext cx="5715000" cy="20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B525C"/>
                </a:solidFill>
                <a:latin typeface="IBM Plex Sans"/>
              </a:rPr>
              <a:t>AI 기반 품질 데이터 분석 프로젝트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8500" y="4889500"/>
            <a:ext cx="1651000" cy="127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8500" y="5016500"/>
            <a:ext cx="7620000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86374"/>
                </a:solidFill>
                <a:latin typeface="JetBrains Mono"/>
              </a:rPr>
              <a:t>Python  |  Machine Learning  |  SHAP  |  Manufacturing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37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98000" y="0"/>
            <a:ext cx="279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98000" y="0"/>
            <a:ext cx="2794000" cy="762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8500" y="1012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8500" y="5838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254000"/>
            <a:ext cx="1270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문제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5000" y="254000"/>
            <a:ext cx="635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FFFFFF"/>
                </a:solidFill>
                <a:latin typeface="JetBrains Mono"/>
              </a:rPr>
              <a:t>// 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98500" y="1270000"/>
            <a:ext cx="38100" cy="1143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8500" y="3175000"/>
            <a:ext cx="38100" cy="241300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9000" y="1206500"/>
            <a:ext cx="7620000" cy="114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B2028"/>
                </a:solidFill>
                <a:latin typeface="JetBrains Mono"/>
              </a:rPr>
              <a:t>공정 센서 데이터 증가에 따른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B2028"/>
                </a:solidFill>
                <a:latin typeface="JetBrains Mono"/>
              </a:rPr>
              <a:t>품질 관리의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603500"/>
            <a:ext cx="1905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3466B2"/>
                </a:solidFill>
                <a:latin typeface="JetBrains Mono"/>
              </a:rPr>
              <a:t>현황 및 과제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3175000"/>
            <a:ext cx="49530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66800" y="3276600"/>
            <a:ext cx="254000" cy="101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 u="none">
                <a:solidFill>
                  <a:srgbClr val="3466B2"/>
                </a:solidFill>
                <a:latin typeface="JetBrains Mono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7000" y="3276600"/>
            <a:ext cx="4318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B2028"/>
                </a:solidFill>
                <a:latin typeface="IBM Plex Sans"/>
              </a:rPr>
              <a:t>수백 개 센서 데이터로 인한 원인 분석 난항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7000" y="3479800"/>
            <a:ext cx="4318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IBM Plex Sans"/>
              </a:rPr>
              <a:t>센서 수 증가로 다변량 데이터 구조가 복잡해져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IBM Plex Sans"/>
              </a:rPr>
              <a:t>불량 원인 변수 특정이 어려워짐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4064000"/>
            <a:ext cx="4953000" cy="762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6800" y="4165600"/>
            <a:ext cx="254000" cy="101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 u="none">
                <a:solidFill>
                  <a:srgbClr val="3466B2"/>
                </a:solidFill>
                <a:latin typeface="JetBrains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7000" y="4165600"/>
            <a:ext cx="4318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B2028"/>
                </a:solidFill>
                <a:latin typeface="IBM Plex Sans"/>
              </a:rPr>
              <a:t>불량 발생 후 원인 추적 시간 급증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7000" y="4368800"/>
            <a:ext cx="4318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IBM Plex Sans"/>
              </a:rPr>
              <a:t>사후 분석 중심의 대응으로 생산 손실 및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IBM Plex Sans"/>
              </a:rPr>
              <a:t>재작업 비용이 반복적으로 발생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4953000"/>
            <a:ext cx="4953000" cy="76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6800" y="5054600"/>
            <a:ext cx="254000" cy="101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 u="none">
                <a:solidFill>
                  <a:srgbClr val="3466B2"/>
                </a:solidFill>
                <a:latin typeface="JetBrains Mon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7000" y="5054600"/>
            <a:ext cx="4318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B2028"/>
                </a:solidFill>
                <a:latin typeface="IBM Plex Sans"/>
              </a:rPr>
              <a:t>핵심 관리 변수 선정 및 데이터 기반 의사결정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7000" y="5257800"/>
            <a:ext cx="4318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IBM Plex Sans"/>
              </a:rPr>
              <a:t>통계·ML 기반 변수 중요도 분석으로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IBM Plex Sans"/>
              </a:rPr>
              <a:t>예방적 품질 관리 체계 구축 요구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175000"/>
            <a:ext cx="4318000" cy="254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54800" y="3327400"/>
            <a:ext cx="1905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공정 복잡도 지표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800" y="3530600"/>
            <a:ext cx="3962400" cy="2006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68000" y="0"/>
            <a:ext cx="152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500" y="254000"/>
            <a:ext cx="1905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DATA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6985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98500" y="4540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8500" y="508000"/>
            <a:ext cx="25400" cy="5715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8500" y="6092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668000" y="6807200"/>
            <a:ext cx="1524000" cy="5080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900" y="698500"/>
            <a:ext cx="9906000" cy="660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 i="0" u="none">
                <a:solidFill>
                  <a:srgbClr val="1B2028"/>
                </a:solidFill>
                <a:latin typeface="JetBrains Mono"/>
              </a:rPr>
              <a:t>불균형 데이터 환경에서의 품질 관점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900" y="1485900"/>
            <a:ext cx="9906000" cy="127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0900" y="1714500"/>
            <a:ext cx="2032000" cy="3556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7900" y="1797050"/>
            <a:ext cx="1778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u="none">
                <a:solidFill>
                  <a:srgbClr val="FFFFFF"/>
                </a:solidFill>
                <a:latin typeface="JetBrains Mono"/>
              </a:rPr>
              <a:t>데이터셋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0" y="2209800"/>
            <a:ext cx="4445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3466B2"/>
                </a:solidFill>
                <a:latin typeface="JetBrains Mono"/>
              </a:rPr>
              <a:t>데이터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0" y="24257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B2028"/>
                </a:solidFill>
                <a:latin typeface="IBM Plex Sans"/>
              </a:rPr>
              <a:t>1,567개 샘플 · 590개 센서 변수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900" y="2857500"/>
            <a:ext cx="444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900" y="2959100"/>
            <a:ext cx="4445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3466B2"/>
                </a:solidFill>
                <a:latin typeface="JetBrains Mono"/>
              </a:rPr>
              <a:t>불량률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900" y="31750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B2028"/>
                </a:solidFill>
                <a:latin typeface="IBM Plex Sans"/>
              </a:rPr>
              <a:t>Pass 1,463건 / Fail 104건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900" y="3606800"/>
            <a:ext cx="444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900" y="3708400"/>
            <a:ext cx="4445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3466B2"/>
                </a:solidFill>
                <a:latin typeface="JetBrains Mono"/>
              </a:rPr>
              <a:t>최적화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900" y="3924300"/>
            <a:ext cx="4445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1B2028"/>
                </a:solidFill>
                <a:latin typeface="IBM Plex Sans"/>
              </a:rPr>
              <a:t>Accuracy 대신 불량 탐지 Recall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900" y="4445000"/>
            <a:ext cx="1270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JetBrains Mono"/>
              </a:rPr>
              <a:t>불량률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900" y="4669253"/>
            <a:ext cx="1143000" cy="15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 i="0" u="none" dirty="0">
                <a:solidFill>
                  <a:srgbClr val="3466B2"/>
                </a:solidFill>
                <a:latin typeface="JetBrains Mono"/>
              </a:rPr>
              <a:t>6</a:t>
            </a:r>
            <a:r>
              <a:rPr lang="en-US" sz="10000" b="1" i="0" u="none" dirty="0">
                <a:solidFill>
                  <a:srgbClr val="3466B2"/>
                </a:solidFill>
                <a:latin typeface="JetBrains Mono"/>
              </a:rPr>
              <a:t>.64%</a:t>
            </a:r>
            <a:endParaRPr sz="10000" b="1" i="0" u="none" dirty="0">
              <a:solidFill>
                <a:srgbClr val="3466B2"/>
              </a:solidFill>
              <a:latin typeface="JetBrains Mon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03700" y="5740400"/>
            <a:ext cx="1270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 dirty="0">
                <a:solidFill>
                  <a:srgbClr val="4B525C"/>
                </a:solidFill>
                <a:latin typeface="JetBrains Mono"/>
              </a:rPr>
              <a:t>Fail / Total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14500"/>
            <a:ext cx="5715000" cy="406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15000" y="5905500"/>
            <a:ext cx="5715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JetBrains Mono"/>
              </a:rPr>
              <a:t>클래스 분포 — Pass vs Fail (n=1,567)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A900B0F-B842-679C-CFE5-0E76B83F9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412" y="1595434"/>
            <a:ext cx="5789369" cy="45225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37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98000" y="0"/>
            <a:ext cx="279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8500" y="457200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54000"/>
            <a:ext cx="2032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전처리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95000" y="254000"/>
            <a:ext cx="6985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" y="5969000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8500" y="1016000"/>
            <a:ext cx="25400" cy="381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500" y="1016000"/>
            <a:ext cx="8255000" cy="419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>
                <a:solidFill>
                  <a:srgbClr val="1B2028"/>
                </a:solidFill>
                <a:latin typeface="JetBrains Mono"/>
              </a:rPr>
              <a:t>제조 데이터 신뢰성 확보를 위한 전처리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1638300"/>
            <a:ext cx="5715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B525C"/>
                </a:solidFill>
                <a:latin typeface="JetBrains Mono"/>
              </a:rPr>
              <a:t>센서 품질 필터링 및 결측 보정을 통해 분석 가능한 피처셋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8500" y="1968500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159000"/>
            <a:ext cx="3302000" cy="1143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98500" y="2159000"/>
            <a:ext cx="25400" cy="1143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500" y="2273300"/>
            <a:ext cx="3048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 u="none">
                <a:solidFill>
                  <a:srgbClr val="3466B2"/>
                </a:solidFill>
                <a:latin typeface="JetBrains Mono"/>
              </a:rPr>
              <a:t>STEP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2451100"/>
            <a:ext cx="30480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B2028"/>
                </a:solidFill>
                <a:latin typeface="JetBrains Mono"/>
              </a:rPr>
              <a:t>Constant &amp;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00" y="2819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분산이 없거나 결측률이 과도한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센서를 일괄 제거하여 노이즈 차단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0" y="2159000"/>
            <a:ext cx="3302000" cy="1143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445000" y="2159000"/>
            <a:ext cx="25400" cy="114300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273300"/>
            <a:ext cx="3048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 u="none">
                <a:solidFill>
                  <a:srgbClr val="237959"/>
                </a:solidFill>
                <a:latin typeface="JetBrains Mono"/>
              </a:rPr>
              <a:t>STEP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51100"/>
            <a:ext cx="30480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B2028"/>
                </a:solidFill>
                <a:latin typeface="JetBrains Mono"/>
              </a:rPr>
              <a:t>Median Imputation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819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잔여 결측값을 중앙값으로 대체하여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분포 왜곡 없이 데이터 완결성 확보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2159000"/>
            <a:ext cx="3302000" cy="1143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191500" y="2159000"/>
            <a:ext cx="25400" cy="1143000"/>
          </a:xfrm>
          <a:prstGeom prst="rect">
            <a:avLst/>
          </a:prstGeom>
          <a:solidFill>
            <a:srgbClr val="586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18500" y="2273300"/>
            <a:ext cx="3048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 u="none">
                <a:solidFill>
                  <a:srgbClr val="586374"/>
                </a:solidFill>
                <a:latin typeface="JetBrains Mono"/>
              </a:rPr>
              <a:t>STEP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2451100"/>
            <a:ext cx="30480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B2028"/>
                </a:solidFill>
                <a:latin typeface="JetBrains Mono"/>
              </a:rPr>
              <a:t>분석 대상 최적화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2819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전처리 후 유효 센서 24.4% 감소로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분석 효율 및 모델 품질 향상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8500" y="3556000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8500" y="3683000"/>
            <a:ext cx="1270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u="none">
                <a:solidFill>
                  <a:srgbClr val="4B525C"/>
                </a:solidFill>
                <a:latin typeface="JetBrains Mono"/>
              </a:rPr>
              <a:t>센서 수 변화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3898900"/>
            <a:ext cx="5461000" cy="1778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04000" y="3683000"/>
            <a:ext cx="2159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u="none">
                <a:solidFill>
                  <a:srgbClr val="4B525C"/>
                </a:solidFill>
                <a:latin typeface="JetBrains Mono"/>
              </a:rPr>
              <a:t>제거율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3500" y="3709508"/>
            <a:ext cx="1651000" cy="139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0" b="1" i="0" u="none" dirty="0">
                <a:solidFill>
                  <a:srgbClr val="3466B2"/>
                </a:solidFill>
                <a:latin typeface="JetBrains Mono"/>
              </a:rPr>
              <a:t>24</a:t>
            </a:r>
            <a:r>
              <a:rPr lang="en-US" sz="8000" b="1" i="0" u="none" dirty="0">
                <a:solidFill>
                  <a:srgbClr val="3466B2"/>
                </a:solidFill>
                <a:latin typeface="JetBrains Mono"/>
              </a:rPr>
              <a:t>%</a:t>
            </a:r>
            <a:endParaRPr sz="8000" b="1" i="0" u="none" dirty="0">
              <a:solidFill>
                <a:srgbClr val="3466B2"/>
              </a:solidFill>
              <a:latin typeface="JetBrains Mono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18500" y="3898900"/>
            <a:ext cx="3175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 err="1">
                <a:solidFill>
                  <a:srgbClr val="1B2028"/>
                </a:solidFill>
                <a:latin typeface="JetBrains Mono"/>
              </a:rPr>
              <a:t>전처리를</a:t>
            </a:r>
            <a:r>
              <a:rPr sz="1000" b="0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JetBrains Mono"/>
              </a:rPr>
              <a:t>통해</a:t>
            </a:r>
            <a:r>
              <a:rPr sz="1000" b="0" i="0" u="none" dirty="0">
                <a:solidFill>
                  <a:srgbClr val="1B2028"/>
                </a:solidFill>
                <a:latin typeface="JetBrains Mono"/>
              </a:rPr>
              <a:t> 590개 </a:t>
            </a:r>
            <a:r>
              <a:rPr sz="1000" b="0" i="0" u="none" dirty="0" err="1">
                <a:solidFill>
                  <a:srgbClr val="1B2028"/>
                </a:solidFill>
                <a:latin typeface="JetBrains Mono"/>
              </a:rPr>
              <a:t>센서</a:t>
            </a:r>
            <a:r>
              <a:rPr sz="1000" b="0" i="0" u="none" dirty="0">
                <a:solidFill>
                  <a:srgbClr val="1B2028"/>
                </a:solidFill>
                <a:latin typeface="JetBrains Mono"/>
              </a:rPr>
              <a:t> 중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>
                <a:solidFill>
                  <a:srgbClr val="1B2028"/>
                </a:solidFill>
                <a:latin typeface="JetBrains Mono"/>
              </a:rPr>
              <a:t>144개를 </a:t>
            </a:r>
            <a:r>
              <a:rPr sz="1000" b="0" i="0" u="none" dirty="0" err="1">
                <a:solidFill>
                  <a:srgbClr val="1B2028"/>
                </a:solidFill>
                <a:latin typeface="JetBrains Mono"/>
              </a:rPr>
              <a:t>제거하여</a:t>
            </a:r>
            <a:r>
              <a:rPr sz="1000" b="0" i="0" u="none" dirty="0">
                <a:solidFill>
                  <a:srgbClr val="1B2028"/>
                </a:solidFill>
                <a:latin typeface="JetBrains Mono"/>
              </a:rPr>
              <a:t> 446개의</a:t>
            </a:r>
            <a:r>
              <a:rPr lang="en-US" sz="1000" b="0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lang="ko-KR" altLang="en-US" sz="1000" b="0" i="0" u="none" dirty="0">
                <a:solidFill>
                  <a:srgbClr val="1B2028"/>
                </a:solidFill>
                <a:latin typeface="JetBrains Mono"/>
              </a:rPr>
              <a:t>유효</a:t>
            </a:r>
            <a:r>
              <a:rPr sz="1000" b="0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JetBrains Mono"/>
              </a:rPr>
              <a:t>피처셋</a:t>
            </a:r>
            <a:r>
              <a:rPr sz="1000" b="0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JetBrains Mono"/>
              </a:rPr>
              <a:t>확정</a:t>
            </a:r>
            <a:endParaRPr sz="1000" b="0" i="0" u="none" dirty="0">
              <a:solidFill>
                <a:srgbClr val="1B2028"/>
              </a:solidFill>
              <a:latin typeface="JetBrains Mono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18500" y="4851400"/>
            <a:ext cx="3175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Constant 센서 및 고결측 센서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제거 후 분석 효율 극대화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500" y="6096000"/>
            <a:ext cx="10795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586374"/>
                </a:solidFill>
                <a:latin typeface="JetBrains Mono"/>
              </a:rPr>
              <a:t>전처리 파이프라인: Constant/Missing 제거 → Median Imputation → 최종 피처셋 446개 확정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98000" y="0"/>
            <a:ext cx="279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500" y="254000"/>
            <a:ext cx="1905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6985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98500" y="631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8500" y="685800"/>
            <a:ext cx="12700" cy="1016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57350" y="685800"/>
            <a:ext cx="12700" cy="635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16200" y="685800"/>
            <a:ext cx="12700" cy="635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75050" y="685800"/>
            <a:ext cx="12700" cy="635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33900" y="685800"/>
            <a:ext cx="12700" cy="635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92750" y="685800"/>
            <a:ext cx="12700" cy="101600"/>
          </a:xfrm>
          <a:prstGeom prst="rect">
            <a:avLst/>
          </a:prstGeom>
          <a:solidFill>
            <a:srgbClr val="4B5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51600" y="685800"/>
            <a:ext cx="12700" cy="635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10450" y="685800"/>
            <a:ext cx="12700" cy="635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9300" y="685800"/>
            <a:ext cx="12700" cy="635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328150" y="685800"/>
            <a:ext cx="12700" cy="635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287000" y="685800"/>
            <a:ext cx="12700" cy="101600"/>
          </a:xfrm>
          <a:prstGeom prst="rect">
            <a:avLst/>
          </a:prstGeom>
          <a:solidFill>
            <a:srgbClr val="4B5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245850" y="685800"/>
            <a:ext cx="12700" cy="635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8500" y="6219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8500" y="1016000"/>
            <a:ext cx="6985000" cy="698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u="none">
                <a:solidFill>
                  <a:srgbClr val="1B2028"/>
                </a:solidFill>
                <a:latin typeface="JetBrains Mono"/>
              </a:rPr>
              <a:t>분석 방법론: 데이터 정제부터 모델링까지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500" y="1879600"/>
            <a:ext cx="10160000" cy="1905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8500" y="2044700"/>
            <a:ext cx="4445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3466B2"/>
                </a:solidFill>
                <a:latin typeface="JetBrains Mono"/>
              </a:rPr>
              <a:t>파이프라인 개요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298700"/>
            <a:ext cx="21590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500" y="2298700"/>
            <a:ext cx="21590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JetBrains Mono"/>
              </a:rPr>
              <a:t>Raw Data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JetBrains Mono"/>
              </a:rPr>
              <a:t>원시 센서 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8300" y="2489200"/>
            <a:ext cx="1905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3466B2"/>
                </a:solidFill>
                <a:latin typeface="JetBrains Mono"/>
              </a:rPr>
              <a:t>→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2298700"/>
            <a:ext cx="21590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149600" y="2298700"/>
            <a:ext cx="21590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 dirty="0">
                <a:solidFill>
                  <a:srgbClr val="FFFFFF"/>
                </a:solidFill>
                <a:latin typeface="JetBrains Mono"/>
              </a:rPr>
              <a:t>Cleaning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ko-KR" sz="800" dirty="0" err="1">
                <a:solidFill>
                  <a:schemeClr val="bg1"/>
                </a:solidFill>
              </a:rPr>
              <a:t>결측·저품질</a:t>
            </a:r>
            <a:r>
              <a:rPr lang="ko-KR" altLang="ko-KR" sz="800" dirty="0">
                <a:solidFill>
                  <a:schemeClr val="bg1"/>
                </a:solidFill>
              </a:rPr>
              <a:t> 센서 처리</a:t>
            </a:r>
            <a:endParaRPr sz="800" b="0" i="0" u="none" dirty="0">
              <a:solidFill>
                <a:schemeClr val="bg1"/>
              </a:solidFill>
              <a:latin typeface="JetBrains Mon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59400" y="2489200"/>
            <a:ext cx="1905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3466B2"/>
                </a:solidFill>
                <a:latin typeface="JetBrains Mono"/>
              </a:rPr>
              <a:t>→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298700"/>
            <a:ext cx="2159000" cy="457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00700" y="2298700"/>
            <a:ext cx="21590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JetBrains Mono"/>
              </a:rPr>
              <a:t>ML Model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JetBrains Mono"/>
              </a:rPr>
              <a:t>모델 학습 및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0" y="2489200"/>
            <a:ext cx="1905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3466B2"/>
                </a:solidFill>
                <a:latin typeface="JetBrains Mono"/>
              </a:rPr>
              <a:t>→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800" y="2298700"/>
            <a:ext cx="21590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051800" y="2298700"/>
            <a:ext cx="21590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JetBrains Mono"/>
              </a:rPr>
              <a:t>Feature Analysis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FFFFFF"/>
                </a:solidFill>
                <a:latin typeface="JetBrains Mono"/>
              </a:rPr>
              <a:t>변수 중요도 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8500" y="3022600"/>
            <a:ext cx="5207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86500" y="3022600"/>
            <a:ext cx="4572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8500" y="3175000"/>
            <a:ext cx="2540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B2028"/>
                </a:solidFill>
                <a:latin typeface="JetBrains Mono"/>
              </a:rPr>
              <a:t>Baseline 모델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8500" y="3416300"/>
            <a:ext cx="25400" cy="635000"/>
          </a:xfrm>
          <a:prstGeom prst="rect">
            <a:avLst/>
          </a:prstGeom>
          <a:solidFill>
            <a:srgbClr val="4B5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5500" y="3416300"/>
            <a:ext cx="4826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B2028"/>
                </a:solidFill>
                <a:latin typeface="JetBrains Mono"/>
              </a:rPr>
              <a:t>Logistic Regression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500" y="3632200"/>
            <a:ext cx="4826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선형 결정 경계 기반 이진 분류 — 해석 가능성이 높고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기준 성능(Baseline) 확립에 적합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6500" y="3175000"/>
            <a:ext cx="2540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237959"/>
                </a:solidFill>
                <a:latin typeface="JetBrains Mono"/>
              </a:rPr>
              <a:t>핵심 모델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6500" y="3416300"/>
            <a:ext cx="25400" cy="63500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13500" y="3416300"/>
            <a:ext cx="45085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>
                <a:solidFill>
                  <a:srgbClr val="1B2028"/>
                </a:solidFill>
                <a:latin typeface="JetBrains Mono"/>
              </a:rPr>
              <a:t>Random Forest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3500" y="3632200"/>
            <a:ext cx="45085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비선형 패턴 포착 및 변수 중요도(Feature Importance)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JetBrains Mono"/>
              </a:rPr>
              <a:t>산출 — 공정 인자 분석의 핵심 알고리즘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8500" y="4318000"/>
            <a:ext cx="10160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8500" y="4470400"/>
            <a:ext cx="1524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u="none">
                <a:solidFill>
                  <a:srgbClr val="3466B2"/>
                </a:solidFill>
                <a:latin typeface="JetBrains Mono"/>
              </a:rPr>
              <a:t>평가 지표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470400"/>
            <a:ext cx="1143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1B2028"/>
                </a:solidFill>
                <a:latin typeface="JetBrains Mono"/>
              </a:rPr>
              <a:t>Accuracy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9800" y="4470400"/>
            <a:ext cx="1270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1B2028"/>
                </a:solidFill>
                <a:latin typeface="JetBrains Mono"/>
              </a:rPr>
              <a:t>Precision / Recall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4470400"/>
            <a:ext cx="762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1B2028"/>
                </a:solidFill>
                <a:latin typeface="JetBrains Mono"/>
              </a:rPr>
              <a:t>F1-Score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13400" y="4470400"/>
            <a:ext cx="762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00" dirty="0">
                <a:solidFill>
                  <a:srgbClr val="1B2028"/>
                </a:solidFill>
                <a:latin typeface="JetBrains Mono"/>
              </a:rPr>
              <a:t>PR-AUC</a:t>
            </a:r>
            <a:endParaRPr sz="700" b="0" i="0" u="none" dirty="0">
              <a:solidFill>
                <a:srgbClr val="1B2028"/>
              </a:solidFill>
              <a:latin typeface="JetBrains Mono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26200" y="4470400"/>
            <a:ext cx="1651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1B2028"/>
                </a:solidFill>
                <a:latin typeface="JetBrains Mono"/>
              </a:rPr>
              <a:t>Confusion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68000" y="0"/>
            <a:ext cx="152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500" y="254000"/>
            <a:ext cx="1905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BASELINE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6985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98500" y="504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8500" y="558800"/>
            <a:ext cx="25400" cy="3556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8500" y="5838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5905500"/>
            <a:ext cx="3810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JetBrains Mono"/>
              </a:rPr>
              <a:t>Logistic Regression · Confusion Matrix 기반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558800"/>
            <a:ext cx="7620000" cy="393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u="none">
                <a:solidFill>
                  <a:srgbClr val="1B2028"/>
                </a:solidFill>
                <a:latin typeface="JetBrains Mono"/>
              </a:rPr>
              <a:t>Baseline 모델 평가 및 한계점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1079500"/>
            <a:ext cx="4445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4B525C"/>
                </a:solidFill>
                <a:latin typeface="IBM Plex Sans"/>
              </a:rPr>
              <a:t>Logistic Regression 초기 모델 성능 분석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409700"/>
            <a:ext cx="2921000" cy="127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5500" y="1536700"/>
            <a:ext cx="1270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JetBrains Mono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00" y="1689100"/>
            <a:ext cx="2667000" cy="698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3466B2"/>
                </a:solidFill>
                <a:latin typeface="JetBrains Mono"/>
              </a:rPr>
              <a:t>83.76%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2438400"/>
            <a:ext cx="2667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586374"/>
                </a:solidFill>
                <a:latin typeface="IBM Plex Sans"/>
              </a:rPr>
              <a:t>전체 정확도 — 겉보기 양호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409700"/>
            <a:ext cx="2921000" cy="127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37000" y="1536700"/>
            <a:ext cx="1270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JetBrains Mono"/>
              </a:rPr>
              <a:t>RECALL (불량)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7000" y="1689100"/>
            <a:ext cx="2667000" cy="698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237959"/>
                </a:solidFill>
                <a:latin typeface="JetBrains Mono"/>
              </a:rPr>
              <a:t>19.05%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7000" y="2438400"/>
            <a:ext cx="2667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586374"/>
                </a:solidFill>
                <a:latin typeface="IBM Plex Sans"/>
              </a:rPr>
              <a:t>불량 탐지율 — 심각한 미탐지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1409700"/>
            <a:ext cx="4572000" cy="127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8500" y="1536700"/>
            <a:ext cx="4318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JetBrains Mono"/>
              </a:rPr>
              <a:t>CLASS IMBALANCE 영향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0" y="1689100"/>
            <a:ext cx="431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B2028"/>
                </a:solidFill>
                <a:latin typeface="IBM Plex Sans"/>
              </a:rPr>
              <a:t>정상 클래스 과다 학습으로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B2028"/>
                </a:solidFill>
                <a:latin typeface="IBM Plex Sans"/>
              </a:rPr>
              <a:t>불량 패턴 미반영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8500" y="2921000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8500" y="3048000"/>
            <a:ext cx="3175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B2028"/>
                </a:solidFill>
                <a:latin typeface="JetBrains Mono"/>
              </a:rPr>
              <a:t>혼동 행렬 (Confusion Matrix)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3263900"/>
            <a:ext cx="4953000" cy="2286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500" y="5600700"/>
            <a:ext cx="4953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586374"/>
                </a:solidFill>
                <a:latin typeface="IBM Plex Sans"/>
              </a:rPr>
              <a:t>불량 21건 중 17건 미탐지 (FN) — Recall 저하의 직접 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9000" y="3048000"/>
            <a:ext cx="55245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1B2028"/>
                </a:solidFill>
                <a:latin typeface="JetBrains Mono"/>
              </a:rPr>
              <a:t>한계점 요약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9000" y="3263900"/>
            <a:ext cx="38100" cy="381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96000" y="3263900"/>
            <a:ext cx="51435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Recall 19.05%</a:t>
            </a:r>
            <a:endParaRPr lang="en-US" sz="1000" b="0" i="0" u="none" dirty="0">
              <a:solidFill>
                <a:srgbClr val="1B2028"/>
              </a:solidFill>
              <a:latin typeface="IBM Plex Sans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—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불량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5건 중 4건을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정상으로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오분류</a:t>
            </a:r>
            <a:endParaRPr sz="1000" b="0" i="0" u="none" dirty="0">
              <a:solidFill>
                <a:srgbClr val="1B2028"/>
              </a:solidFill>
              <a:latin typeface="IBM Plex San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69000" y="3771900"/>
            <a:ext cx="38100" cy="381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96000" y="3771900"/>
            <a:ext cx="51435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ko-KR" altLang="ko-KR" sz="1000" dirty="0"/>
              <a:t>불량 클래스의 낮은 표본 수로 인해 </a:t>
            </a:r>
            <a:r>
              <a:rPr lang="ko-KR" altLang="ko-KR" sz="1000" dirty="0" err="1"/>
              <a:t>미탐지</a:t>
            </a:r>
            <a:r>
              <a:rPr lang="ko-KR" altLang="ko-KR" sz="1000" dirty="0"/>
              <a:t>(FN)가 크게 발생</a:t>
            </a:r>
            <a:r>
              <a:rPr lang="en-US" altLang="ko-KR" sz="1000" dirty="0"/>
              <a:t> </a:t>
            </a:r>
          </a:p>
          <a:p>
            <a:pPr>
              <a:lnSpc>
                <a:spcPct val="140000"/>
              </a:lnSpc>
            </a:pP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— </a:t>
            </a:r>
            <a:r>
              <a:rPr lang="ko-KR" altLang="ko-KR" sz="1000" dirty="0"/>
              <a:t>불균형 데이터의 영향으로 불량 탐지 성능이 제한됨</a:t>
            </a:r>
            <a:endParaRPr sz="1000" b="0" i="0" u="none" dirty="0">
              <a:solidFill>
                <a:srgbClr val="1B2028"/>
              </a:solidFill>
              <a:latin typeface="IBM Plex San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969000" y="4279900"/>
            <a:ext cx="38100" cy="381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96000" y="4279900"/>
            <a:ext cx="51435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단순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선형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결정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경계</a:t>
            </a:r>
            <a:endParaRPr lang="en-US" sz="1000" b="0" i="0" u="none" dirty="0">
              <a:solidFill>
                <a:srgbClr val="1B2028"/>
              </a:solidFill>
              <a:latin typeface="IBM Plex Sans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—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센서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데이터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비선형성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미반영</a:t>
            </a:r>
            <a:endParaRPr sz="1000" b="0" i="0" u="none" dirty="0">
              <a:solidFill>
                <a:srgbClr val="1B2028"/>
              </a:solidFill>
              <a:latin typeface="IBM Plex Sans"/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0" y="4889500"/>
            <a:ext cx="5524500" cy="762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096000" y="5016500"/>
            <a:ext cx="5270500" cy="50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40000"/>
              </a:lnSpc>
            </a:pPr>
            <a:r>
              <a:rPr sz="950" b="0" i="0" u="none" dirty="0">
                <a:solidFill>
                  <a:srgbClr val="FFFFFF"/>
                </a:solidFill>
                <a:latin typeface="IBM Plex Sans"/>
              </a:rPr>
              <a:t>→ </a:t>
            </a:r>
            <a:r>
              <a:rPr sz="950" b="0" i="0" u="none" dirty="0" err="1">
                <a:solidFill>
                  <a:srgbClr val="FFFFFF"/>
                </a:solidFill>
                <a:latin typeface="IBM Plex Sans"/>
              </a:rPr>
              <a:t>다음</a:t>
            </a:r>
            <a:r>
              <a:rPr sz="950" b="0" i="0" u="none" dirty="0">
                <a:solidFill>
                  <a:srgbClr val="FFFFFF"/>
                </a:solidFill>
                <a:latin typeface="IBM Plex Sans"/>
              </a:rPr>
              <a:t> </a:t>
            </a:r>
            <a:r>
              <a:rPr sz="950" b="0" i="0" u="none" dirty="0" err="1">
                <a:solidFill>
                  <a:srgbClr val="FFFFFF"/>
                </a:solidFill>
                <a:latin typeface="IBM Plex Sans"/>
              </a:rPr>
              <a:t>단계</a:t>
            </a:r>
            <a:r>
              <a:rPr sz="950" b="0" i="0" u="none" dirty="0">
                <a:solidFill>
                  <a:schemeClr val="bg1"/>
                </a:solidFill>
                <a:latin typeface="IBM Plex Sans"/>
              </a:rPr>
              <a:t>: </a:t>
            </a:r>
            <a:r>
              <a:rPr lang="ko-KR" altLang="ko-KR" sz="1000" dirty="0" err="1">
                <a:solidFill>
                  <a:schemeClr val="bg1"/>
                </a:solidFill>
              </a:rPr>
              <a:t>Random</a:t>
            </a:r>
            <a:r>
              <a:rPr lang="ko-KR" altLang="ko-KR" sz="1000" dirty="0">
                <a:solidFill>
                  <a:schemeClr val="bg1"/>
                </a:solidFill>
              </a:rPr>
              <a:t> </a:t>
            </a:r>
            <a:r>
              <a:rPr lang="ko-KR" altLang="ko-KR" sz="1000" dirty="0" err="1">
                <a:solidFill>
                  <a:schemeClr val="bg1"/>
                </a:solidFill>
              </a:rPr>
              <a:t>Forest</a:t>
            </a:r>
            <a:r>
              <a:rPr lang="ko-KR" altLang="ko-KR" sz="1000" dirty="0">
                <a:solidFill>
                  <a:schemeClr val="bg1"/>
                </a:solidFill>
              </a:rPr>
              <a:t> 기반 비선형 패턴 및 주요 영향 센서 분석</a:t>
            </a:r>
            <a:endParaRPr sz="950" b="0" i="0" u="none" dirty="0">
              <a:solidFill>
                <a:schemeClr val="bg1"/>
              </a:solidFill>
              <a:latin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3500" y="12274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68000" y="0"/>
            <a:ext cx="152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500" y="254000"/>
            <a:ext cx="1905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RF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6985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98500" y="631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8500" y="6219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8500" y="685800"/>
            <a:ext cx="25400" cy="4572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500" y="6858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1B2028"/>
                </a:solidFill>
                <a:latin typeface="JetBrains Mono"/>
              </a:rPr>
              <a:t>Random Forest를 활용한 주요 센서 도출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1397000"/>
            <a:ext cx="5715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4B525C"/>
                </a:solidFill>
                <a:latin typeface="IBM Plex Sans"/>
              </a:rPr>
              <a:t>Feature Importance 분석 기반 핵심 공정 변수 식별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8500" y="1739900"/>
            <a:ext cx="5334000" cy="127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8500" y="1866900"/>
            <a:ext cx="3810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3466B2"/>
                </a:solidFill>
                <a:latin typeface="JetBrains Mono"/>
              </a:rPr>
              <a:t>TOP 20 SENSOR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500" y="5956300"/>
            <a:ext cx="5334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IBM Plex Sans"/>
              </a:rPr>
              <a:t>* Importance 값은 전체 트리 평균 불순도 감소량 기준 (Gini)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7000" y="1739900"/>
            <a:ext cx="5016500" cy="127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7000" y="1866900"/>
            <a:ext cx="3810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3466B2"/>
                </a:solidFill>
                <a:latin typeface="JetBrains Mono"/>
              </a:rPr>
              <a:t>KEY FINDINGS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095500"/>
            <a:ext cx="5016500" cy="825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29400" y="2235200"/>
            <a:ext cx="762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JetBrains Mono"/>
              </a:rPr>
              <a:t>TOP 5 센서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400300"/>
            <a:ext cx="47117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3466B2"/>
                </a:solidFill>
                <a:latin typeface="JetBrains Mono"/>
              </a:rPr>
              <a:t>Sensor 64 · 65 · 574 · 562 · 59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048000"/>
            <a:ext cx="5016500" cy="825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9400" y="3187700"/>
            <a:ext cx="1905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JetBrains Mono"/>
              </a:rPr>
              <a:t>누적 Feature Importance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352800"/>
            <a:ext cx="47117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100" b="0" i="0" u="none" dirty="0">
                <a:solidFill>
                  <a:srgbClr val="1B2028"/>
                </a:solidFill>
                <a:latin typeface="IBM Plex Sans"/>
              </a:rPr>
              <a:t>Top 20 </a:t>
            </a:r>
            <a:r>
              <a:rPr sz="1100" b="0" i="0" u="none" dirty="0" err="1">
                <a:solidFill>
                  <a:srgbClr val="1B2028"/>
                </a:solidFill>
                <a:latin typeface="IBM Plex Sans"/>
              </a:rPr>
              <a:t>센서</a:t>
            </a:r>
            <a:r>
              <a:rPr sz="1100" b="0" i="0" u="none" dirty="0">
                <a:solidFill>
                  <a:srgbClr val="1B2028"/>
                </a:solidFill>
                <a:latin typeface="IBM Plex Sans"/>
              </a:rPr>
              <a:t> → </a:t>
            </a:r>
            <a:r>
              <a:rPr lang="ko-KR" altLang="ko-KR" sz="1100" dirty="0" err="1"/>
              <a:t>Top</a:t>
            </a:r>
            <a:r>
              <a:rPr lang="ko-KR" altLang="ko-KR" sz="1100" dirty="0"/>
              <a:t> 20 센서를 중심으로 주요 영향 변수 후보를 도출</a:t>
            </a:r>
            <a:endParaRPr sz="1100" b="0" i="0" u="none" dirty="0">
              <a:solidFill>
                <a:srgbClr val="1B2028"/>
              </a:solidFill>
              <a:latin typeface="IBM Plex Sans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4000500"/>
            <a:ext cx="5016500" cy="825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29400" y="4140200"/>
            <a:ext cx="1905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4B525C"/>
                </a:solidFill>
                <a:latin typeface="JetBrains Mono"/>
              </a:rPr>
              <a:t>불량 상관 가능성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305300"/>
            <a:ext cx="47117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100" b="0" i="0" u="none" dirty="0" err="1">
                <a:solidFill>
                  <a:srgbClr val="1B2028"/>
                </a:solidFill>
                <a:latin typeface="IBM Plex Sans"/>
              </a:rPr>
              <a:t>상위</a:t>
            </a:r>
            <a:r>
              <a:rPr sz="11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100" b="0" i="0" u="none" dirty="0" err="1">
                <a:solidFill>
                  <a:srgbClr val="1B2028"/>
                </a:solidFill>
                <a:latin typeface="IBM Plex Sans"/>
              </a:rPr>
              <a:t>센서군</a:t>
            </a:r>
            <a:r>
              <a:rPr sz="1100" b="0" i="0" u="none" dirty="0">
                <a:solidFill>
                  <a:srgbClr val="1B2028"/>
                </a:solidFill>
                <a:latin typeface="IBM Plex Sans"/>
              </a:rPr>
              <a:t> — </a:t>
            </a:r>
            <a:r>
              <a:rPr lang="ko-KR" altLang="ko-KR" sz="1100" dirty="0"/>
              <a:t>불량 분류에 높은 중요도를 보이는 </a:t>
            </a:r>
            <a:r>
              <a:rPr lang="ko-KR" altLang="ko-KR" sz="1100" dirty="0" err="1"/>
              <a:t>센서군</a:t>
            </a:r>
            <a:r>
              <a:rPr lang="ko-KR" altLang="ko-KR" sz="1100" dirty="0"/>
              <a:t> 확인</a:t>
            </a:r>
            <a:endParaRPr sz="1100" b="0" i="0" u="none" dirty="0">
              <a:solidFill>
                <a:srgbClr val="1B2028"/>
              </a:solidFill>
              <a:latin typeface="IBM Plex Sans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4953000"/>
            <a:ext cx="5016500" cy="825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29400" y="5092700"/>
            <a:ext cx="1905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237959"/>
                </a:solidFill>
                <a:latin typeface="JetBrains Mono"/>
              </a:rPr>
              <a:t>다음 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57800"/>
            <a:ext cx="47117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1B2028"/>
                </a:solidFill>
                <a:latin typeface="IBM Plex Sans"/>
              </a:rPr>
              <a:t>SHAP 분석으로 개별 예측 기여도 심층 해석 예정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CDFF94ED-42BA-D072-B545-9C643873E7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0" t="-186" r="87498" b="36297"/>
          <a:stretch>
            <a:fillRect/>
          </a:stretch>
        </p:blipFill>
        <p:spPr>
          <a:xfrm>
            <a:off x="698500" y="2006600"/>
            <a:ext cx="1596705" cy="3844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98000" y="0"/>
            <a:ext cx="279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500" y="254000"/>
            <a:ext cx="1905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SHAP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6985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98500" y="504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8500" y="609600"/>
            <a:ext cx="25400" cy="5715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8500" y="6092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5500" y="698500"/>
            <a:ext cx="6350000" cy="660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u="none" dirty="0" err="1">
                <a:solidFill>
                  <a:srgbClr val="1B2028"/>
                </a:solidFill>
                <a:latin typeface="JetBrains Mono"/>
              </a:rPr>
              <a:t>SHAP을</a:t>
            </a:r>
            <a:r>
              <a:rPr sz="2400" b="1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2400" b="1" i="0" u="none" dirty="0" err="1">
                <a:solidFill>
                  <a:srgbClr val="1B2028"/>
                </a:solidFill>
                <a:latin typeface="JetBrains Mono"/>
              </a:rPr>
              <a:t>통한</a:t>
            </a:r>
            <a:r>
              <a:rPr sz="2400" b="1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2400" b="1" i="0" u="none" dirty="0" err="1">
                <a:solidFill>
                  <a:srgbClr val="1B2028"/>
                </a:solidFill>
                <a:latin typeface="JetBrains Mono"/>
              </a:rPr>
              <a:t>불량</a:t>
            </a:r>
            <a:r>
              <a:rPr sz="2400" b="1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sz="2400" b="1" i="0" u="none" dirty="0" err="1">
                <a:solidFill>
                  <a:srgbClr val="1B2028"/>
                </a:solidFill>
                <a:latin typeface="JetBrains Mono"/>
              </a:rPr>
              <a:t>영향</a:t>
            </a:r>
            <a:r>
              <a:rPr lang="en-US" sz="2400" b="1" i="0" u="none" dirty="0">
                <a:solidFill>
                  <a:srgbClr val="1B2028"/>
                </a:solidFill>
                <a:latin typeface="JetBrains Mono"/>
              </a:rPr>
              <a:t> </a:t>
            </a:r>
            <a:r>
              <a:rPr lang="ko-KR" altLang="en-US" sz="2400" b="1" i="0" u="none" dirty="0">
                <a:solidFill>
                  <a:srgbClr val="1B2028"/>
                </a:solidFill>
                <a:latin typeface="JetBrains Mono"/>
              </a:rPr>
              <a:t>분석</a:t>
            </a:r>
            <a:endParaRPr sz="2400" b="1" i="0" u="none" dirty="0">
              <a:solidFill>
                <a:srgbClr val="1B2028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5500" y="1485900"/>
            <a:ext cx="4318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4B525C"/>
                </a:solidFill>
                <a:latin typeface="IBM Plex Sans"/>
              </a:rPr>
              <a:t>단순 중요도를 넘어선 불량 기여도 해석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5500" y="1790700"/>
            <a:ext cx="4318000" cy="127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500" y="1917700"/>
            <a:ext cx="1270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3466B2"/>
                </a:solidFill>
                <a:latin typeface="JetBrains Mono"/>
              </a:rPr>
              <a:t>SHAP 분석 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" y="2082800"/>
            <a:ext cx="4318000" cy="495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rgbClr val="1B2028"/>
                </a:solidFill>
                <a:latin typeface="IBM Plex Sans"/>
              </a:rPr>
              <a:t>Feature Importance</a:t>
            </a:r>
            <a:r>
              <a:rPr lang="ko-KR" altLang="en-US" sz="900" dirty="0">
                <a:solidFill>
                  <a:srgbClr val="1B2028"/>
                </a:solidFill>
                <a:latin typeface="IBM Plex Sans"/>
              </a:rPr>
              <a:t>가 </a:t>
            </a:r>
            <a:r>
              <a:rPr lang="en-US" altLang="ko-KR" sz="900" dirty="0">
                <a:solidFill>
                  <a:srgbClr val="1B2028"/>
                </a:solidFill>
                <a:latin typeface="IBM Plex Sans"/>
              </a:rPr>
              <a:t>'</a:t>
            </a:r>
            <a:r>
              <a:rPr lang="ko-KR" altLang="en-US" sz="900" dirty="0">
                <a:solidFill>
                  <a:srgbClr val="1B2028"/>
                </a:solidFill>
                <a:latin typeface="IBM Plex Sans"/>
              </a:rPr>
              <a:t>얼마나 중요한가</a:t>
            </a:r>
            <a:r>
              <a:rPr lang="en-US" altLang="ko-KR" sz="900" dirty="0">
                <a:solidFill>
                  <a:srgbClr val="1B2028"/>
                </a:solidFill>
                <a:latin typeface="IBM Plex Sans"/>
              </a:rPr>
              <a:t>'</a:t>
            </a:r>
            <a:r>
              <a:rPr lang="ko-KR" altLang="en-US" sz="900" dirty="0">
                <a:solidFill>
                  <a:srgbClr val="1B2028"/>
                </a:solidFill>
                <a:latin typeface="IBM Plex Sans"/>
              </a:rPr>
              <a:t>를 보여준다면</a:t>
            </a:r>
            <a:r>
              <a:rPr lang="en-US" altLang="ko-KR" sz="900" dirty="0">
                <a:solidFill>
                  <a:srgbClr val="1B2028"/>
                </a:solidFill>
                <a:latin typeface="IBM Plex Sans"/>
              </a:rPr>
              <a:t>,  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SHAP(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SHapley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 Additive</a:t>
            </a:r>
            <a:endParaRPr lang="en-US" sz="900" b="0" i="0" u="none" dirty="0">
              <a:solidFill>
                <a:srgbClr val="1B2028"/>
              </a:solidFill>
              <a:latin typeface="IBM Plex Sans"/>
            </a:endParaRPr>
          </a:p>
          <a:p>
            <a:pPr>
              <a:lnSpc>
                <a:spcPct val="150000"/>
              </a:lnSpc>
            </a:pP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exPlanations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)은 각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센서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변수가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불량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예측에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미치는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방향성과</a:t>
            </a:r>
            <a:r>
              <a:rPr lang="en-US" sz="900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크기를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동시에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900" b="0" i="0" u="none" dirty="0" err="1">
                <a:solidFill>
                  <a:srgbClr val="1B2028"/>
                </a:solidFill>
                <a:latin typeface="IBM Plex Sans"/>
              </a:rPr>
              <a:t>정량화합니다</a:t>
            </a:r>
            <a:r>
              <a:rPr sz="900" b="0" i="0" u="none" dirty="0">
                <a:solidFill>
                  <a:srgbClr val="1B2028"/>
                </a:solidFill>
                <a:latin typeface="IBM Plex Sans"/>
              </a:rPr>
              <a:t>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500" y="2717800"/>
            <a:ext cx="4318000" cy="127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500" y="2844800"/>
            <a:ext cx="1651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3466B2"/>
                </a:solidFill>
                <a:latin typeface="JetBrains Mono"/>
              </a:rPr>
              <a:t>Beeswarm Plot 해석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00" y="3009900"/>
            <a:ext cx="431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B2028"/>
                </a:solidFill>
                <a:latin typeface="IBM Plex Sans"/>
              </a:rPr>
              <a:t>• X축 오른쪽(양수): 불량 확률 증가 기여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B2028"/>
                </a:solidFill>
                <a:latin typeface="IBM Plex Sans"/>
              </a:rPr>
              <a:t>• X축 왼쪽(음수): 불량 확률 감소 기여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B2028"/>
                </a:solidFill>
                <a:latin typeface="IBM Plex Sans"/>
              </a:rPr>
              <a:t>• 점 색상(빨강→파랑): 해당 센서의 실제 측정값 고→저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B2028"/>
                </a:solidFill>
                <a:latin typeface="IBM Plex Sans"/>
              </a:rPr>
              <a:t>• 점 분포 폭: 샘플 간 영향력 분산 정도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500" y="3975100"/>
            <a:ext cx="4318000" cy="127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500" y="4102100"/>
            <a:ext cx="1270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 u="none">
                <a:solidFill>
                  <a:srgbClr val="3466B2"/>
                </a:solidFill>
                <a:latin typeface="JetBrains Mono"/>
              </a:rPr>
              <a:t>핵심 센서 식별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4267200"/>
            <a:ext cx="4318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B525C"/>
                </a:solidFill>
                <a:latin typeface="IBM Plex Sans"/>
              </a:rPr>
              <a:t>상위 5개 불량 기여 센서 (SHAP 절댓값 기준)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5500" y="4546600"/>
            <a:ext cx="825500" cy="304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500" y="4546600"/>
            <a:ext cx="825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JetBrains Mono"/>
              </a:rPr>
              <a:t>센서 59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27200" y="4546600"/>
            <a:ext cx="825500" cy="304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27200" y="4546600"/>
            <a:ext cx="825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JetBrains Mono"/>
              </a:rPr>
              <a:t>센서 103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28900" y="4546600"/>
            <a:ext cx="825500" cy="30480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28900" y="4546600"/>
            <a:ext cx="825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JetBrains Mono"/>
              </a:rPr>
              <a:t>센서 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30600" y="4546600"/>
            <a:ext cx="825500" cy="30480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30600" y="4546600"/>
            <a:ext cx="8255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JetBrains Mono"/>
              </a:rPr>
              <a:t>센서 574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2300" y="4546600"/>
            <a:ext cx="711200" cy="304800"/>
          </a:xfrm>
          <a:prstGeom prst="rect">
            <a:avLst/>
          </a:prstGeom>
          <a:solidFill>
            <a:srgbClr val="586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2300" y="4546600"/>
            <a:ext cx="711200" cy="304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JetBrains Mono"/>
              </a:rPr>
              <a:t>센서 64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9BB9B82B-26B9-4F80-CD49-E97229CB5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576" y="1399603"/>
            <a:ext cx="2335309" cy="140239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6CC08503-B43A-BB26-72CB-16A00B24E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603" y="-9302"/>
            <a:ext cx="2314424" cy="149096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80B96B20-6EDC-6605-3C9D-76C0469B83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884"/>
          <a:stretch>
            <a:fillRect/>
          </a:stretch>
        </p:blipFill>
        <p:spPr>
          <a:xfrm>
            <a:off x="9877576" y="2786548"/>
            <a:ext cx="2307870" cy="1429852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124D963-C238-7242-0BAB-B8292D9329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8102" b="57022"/>
          <a:stretch>
            <a:fillRect/>
          </a:stretch>
        </p:blipFill>
        <p:spPr>
          <a:xfrm>
            <a:off x="9942555" y="5394584"/>
            <a:ext cx="2242891" cy="143792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E511D87-199C-5568-F3D0-BBCAFA5620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1257" y="673100"/>
            <a:ext cx="3789289" cy="4636584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199165-BF33-2B7A-C9D0-FC8761C990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2013" r="58102" b="15009"/>
          <a:stretch>
            <a:fillRect/>
          </a:stretch>
        </p:blipFill>
        <p:spPr>
          <a:xfrm>
            <a:off x="9923784" y="4188945"/>
            <a:ext cx="2242891" cy="1437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98000" y="0"/>
            <a:ext cx="279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500" y="254000"/>
            <a:ext cx="1905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KEY SENSOR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6985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98500" y="504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8500" y="6219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-2159000" y="3362325"/>
            <a:ext cx="571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8500" y="698500"/>
            <a:ext cx="9398000" cy="698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 i="0" u="none">
                <a:solidFill>
                  <a:srgbClr val="1B2028"/>
                </a:solidFill>
                <a:latin typeface="JetBrains Mono"/>
              </a:rPr>
              <a:t>교차 분석을 통한 핵심 관리 센서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8500" y="1514475"/>
            <a:ext cx="3746500" cy="1905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8500" y="1701800"/>
            <a:ext cx="4826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4B525C"/>
                </a:solidFill>
                <a:latin typeface="IBM Plex Sans"/>
              </a:rPr>
              <a:t>RF 중요도 × SHAP 기여도 교차 검증 기반 핵심 센서 도출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095500"/>
            <a:ext cx="4826000" cy="1143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9000" y="2273300"/>
            <a:ext cx="1270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 u="none">
                <a:solidFill>
                  <a:srgbClr val="3466B2"/>
                </a:solidFill>
                <a:latin typeface="JetBrains Mono"/>
              </a:rPr>
              <a:t>분석 방법론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2451100"/>
            <a:ext cx="4445000" cy="660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① Random Forest </a:t>
            </a:r>
            <a:r>
              <a:rPr lang="ko-KR" altLang="en-US" sz="1000" dirty="0">
                <a:solidFill>
                  <a:srgbClr val="1B2028"/>
                </a:solidFill>
                <a:latin typeface="IBM Plex Sans"/>
              </a:rPr>
              <a:t>기반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특성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중요도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lang="ko-KR" altLang="en-US" sz="1000" dirty="0">
                <a:solidFill>
                  <a:srgbClr val="1B2028"/>
                </a:solidFill>
                <a:latin typeface="IBM Plex Sans"/>
              </a:rPr>
              <a:t>분석</a:t>
            </a:r>
            <a:endParaRPr sz="1000" b="0" i="0" u="none" dirty="0">
              <a:solidFill>
                <a:srgbClr val="1B2028"/>
              </a:solidFill>
              <a:latin typeface="IBM Plex Sans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② SHAP </a:t>
            </a:r>
            <a:r>
              <a:rPr lang="ko-KR" altLang="en-US" sz="1000" dirty="0">
                <a:solidFill>
                  <a:srgbClr val="1B2028"/>
                </a:solidFill>
                <a:latin typeface="IBM Plex Sans"/>
              </a:rPr>
              <a:t>기반 모델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기여도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분석</a:t>
            </a:r>
            <a:endParaRPr sz="1000" b="0" i="0" u="none" dirty="0">
              <a:solidFill>
                <a:srgbClr val="1B2028"/>
              </a:solidFill>
              <a:latin typeface="IBM Plex Sans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③ 두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기법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교차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검증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→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공통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상위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센서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추출</a:t>
            </a:r>
            <a:endParaRPr sz="1000" b="0" i="0" u="none" dirty="0">
              <a:solidFill>
                <a:srgbClr val="1B2028"/>
              </a:solidFill>
              <a:latin typeface="IBM Plex San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3429000"/>
            <a:ext cx="4826000" cy="127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9000" y="3606800"/>
            <a:ext cx="1905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 u="none">
                <a:solidFill>
                  <a:srgbClr val="3466B2"/>
                </a:solidFill>
                <a:latin typeface="JetBrains Mono"/>
              </a:rPr>
              <a:t>반복 식별 핵심 센서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3810000"/>
            <a:ext cx="508000" cy="508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9000" y="3924300"/>
            <a:ext cx="5080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JetBrains Mono"/>
              </a:rPr>
              <a:t>센서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JetBrains Mono"/>
              </a:rPr>
              <a:t>64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3810000"/>
            <a:ext cx="508000" cy="508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24000" y="3924300"/>
            <a:ext cx="5080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 dirty="0" err="1">
                <a:solidFill>
                  <a:srgbClr val="FFFFFF"/>
                </a:solidFill>
                <a:latin typeface="JetBrains Mono"/>
              </a:rPr>
              <a:t>센서</a:t>
            </a:r>
            <a:endParaRPr sz="900" b="1" i="0" u="none" dirty="0">
              <a:solidFill>
                <a:srgbClr val="FFFFFF"/>
              </a:solidFill>
              <a:latin typeface="JetBrains Mono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 dirty="0">
                <a:solidFill>
                  <a:srgbClr val="FFFFFF"/>
                </a:solidFill>
                <a:latin typeface="JetBrains Mono"/>
              </a:rPr>
              <a:t>65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9000" y="3810000"/>
            <a:ext cx="508000" cy="508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159000" y="3924300"/>
            <a:ext cx="5080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JetBrains Mono"/>
              </a:rPr>
              <a:t>센서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JetBrains Mono"/>
              </a:rPr>
              <a:t>574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3810000"/>
            <a:ext cx="508000" cy="508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94000" y="3924300"/>
            <a:ext cx="5080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 dirty="0" err="1">
                <a:solidFill>
                  <a:srgbClr val="FFFFFF"/>
                </a:solidFill>
                <a:latin typeface="JetBrains Mono"/>
              </a:rPr>
              <a:t>센서</a:t>
            </a:r>
            <a:endParaRPr sz="900" b="1" i="0" u="none" dirty="0">
              <a:solidFill>
                <a:srgbClr val="FFFFFF"/>
              </a:solidFill>
              <a:latin typeface="JetBrains Mono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 dirty="0">
                <a:solidFill>
                  <a:srgbClr val="FFFFFF"/>
                </a:solidFill>
                <a:latin typeface="JetBrains Mono"/>
              </a:rPr>
              <a:t>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" y="4445000"/>
            <a:ext cx="444500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4B525C"/>
                </a:solidFill>
                <a:latin typeface="IBM Plex Sans"/>
              </a:rPr>
              <a:t>두 기법 모두에서 반복 식별 — 최우선 관리 대상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4826000"/>
            <a:ext cx="4826000" cy="1143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9000" y="5003800"/>
            <a:ext cx="254000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 u="none">
                <a:solidFill>
                  <a:srgbClr val="3466B2"/>
                </a:solidFill>
                <a:latin typeface="JetBrains Mono"/>
              </a:rPr>
              <a:t>관리 기준 도출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" y="5181600"/>
            <a:ext cx="4445000" cy="660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Pass / Fail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그룹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간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센서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측정값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평균</a:t>
            </a: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sz="1000" b="0" i="0" u="none" dirty="0" err="1">
                <a:solidFill>
                  <a:srgbClr val="1B2028"/>
                </a:solidFill>
                <a:latin typeface="IBM Plex Sans"/>
              </a:rPr>
              <a:t>비교</a:t>
            </a:r>
            <a:endParaRPr sz="1000" b="0" i="0" u="none" dirty="0">
              <a:solidFill>
                <a:srgbClr val="1B2028"/>
              </a:solidFill>
              <a:latin typeface="IBM Plex Sans"/>
            </a:endParaRPr>
          </a:p>
          <a:p>
            <a:pPr>
              <a:lnSpc>
                <a:spcPct val="130000"/>
              </a:lnSpc>
            </a:pPr>
            <a:r>
              <a:rPr sz="1000" b="0" i="0" u="none" dirty="0">
                <a:solidFill>
                  <a:srgbClr val="1B2028"/>
                </a:solidFill>
                <a:latin typeface="IBM Plex Sans"/>
              </a:rPr>
              <a:t> </a:t>
            </a:r>
            <a:r>
              <a:rPr lang="ko-KR" altLang="ko-KR" sz="1000" dirty="0"/>
              <a:t>→ </a:t>
            </a:r>
            <a:r>
              <a:rPr lang="ko-KR" altLang="ko-KR" sz="1000" b="1" dirty="0"/>
              <a:t>주요 센서의 데이터 분포 및 그룹 간 차이 확인</a:t>
            </a:r>
            <a:endParaRPr sz="1000" b="0" i="0" u="none" dirty="0">
              <a:solidFill>
                <a:srgbClr val="1B2028"/>
              </a:solidFill>
              <a:latin typeface="IBM Plex Sans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8B403BE2-63E9-5F07-B5A2-74866A356F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560" y="3149532"/>
            <a:ext cx="2998285" cy="257391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4ED83F4-A7EA-0DB6-8B56-89FDD5AE5CFA}"/>
              </a:ext>
            </a:extLst>
          </p:cNvPr>
          <p:cNvSpPr txBox="1"/>
          <p:nvPr/>
        </p:nvSpPr>
        <p:spPr>
          <a:xfrm>
            <a:off x="5969000" y="5787109"/>
            <a:ext cx="2496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1B2028"/>
                </a:solidFill>
                <a:latin typeface="IBM Plex Sans"/>
              </a:rPr>
              <a:t>Pass / Fail </a:t>
            </a:r>
            <a:r>
              <a:rPr lang="ko-KR" altLang="en-US" sz="1000" dirty="0">
                <a:solidFill>
                  <a:srgbClr val="1B2028"/>
                </a:solidFill>
                <a:latin typeface="IBM Plex Sans"/>
              </a:rPr>
              <a:t>그룹 간 센서 측정값 평균 비교</a:t>
            </a:r>
          </a:p>
          <a:p>
            <a:endParaRPr lang="ko-KR" alt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98000" y="0"/>
            <a:ext cx="279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8500" y="254000"/>
            <a:ext cx="1270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5000" y="254000"/>
            <a:ext cx="6985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98500" y="631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8500" y="685800"/>
            <a:ext cx="25400" cy="54610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8500" y="6092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900" y="939800"/>
            <a:ext cx="8890000" cy="660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 i="0" u="none">
                <a:solidFill>
                  <a:srgbClr val="1B2028"/>
                </a:solidFill>
                <a:latin typeface="JetBrains Mono"/>
              </a:rPr>
              <a:t>품질 개선을 위한 관리 효율화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900" y="2348734"/>
            <a:ext cx="9906000" cy="1270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50900" y="2539234"/>
            <a:ext cx="381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3466B2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2526534"/>
            <a:ext cx="8636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ko-KR" sz="1100" dirty="0"/>
              <a:t>전체 센서 중 주요 영향 센서를 선별하여 관리 우선순위 설정 가능</a:t>
            </a:r>
            <a:endParaRPr sz="1100" b="0" i="0" u="none" dirty="0">
              <a:solidFill>
                <a:srgbClr val="1B2028"/>
              </a:solidFill>
              <a:latin typeface="IBM Plex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0900" y="2971034"/>
            <a:ext cx="9906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50900" y="3110734"/>
            <a:ext cx="381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237959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3098034"/>
            <a:ext cx="8636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ko-KR" sz="1100" dirty="0"/>
              <a:t>주요 센서의 변화 모니터링을 통한 이상 징후 분석 방향 제시</a:t>
            </a:r>
            <a:endParaRPr sz="1100" b="0" i="0" u="none" dirty="0">
              <a:solidFill>
                <a:srgbClr val="1B2028"/>
              </a:solidFill>
              <a:latin typeface="IBM Plex 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50900" y="3542534"/>
            <a:ext cx="9906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50900" y="3682234"/>
            <a:ext cx="3810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3466B2"/>
                </a:solidFill>
                <a:latin typeface="JetBrain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3669534"/>
            <a:ext cx="8636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ko-KR" sz="1100" dirty="0"/>
              <a:t>데이터 기반 불량 원인 분석 및 품질 관리 의사결정 지원 가능</a:t>
            </a:r>
            <a:endParaRPr sz="1100" b="0" i="0" u="none" dirty="0">
              <a:solidFill>
                <a:srgbClr val="1B2028"/>
              </a:solidFill>
              <a:latin typeface="IBM Plex San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0900" y="4114034"/>
            <a:ext cx="9906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98000" y="0"/>
            <a:ext cx="279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8500" y="939800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8500" y="5842000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54000"/>
            <a:ext cx="2032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254000"/>
            <a:ext cx="6985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98500" y="1092200"/>
            <a:ext cx="38100" cy="4572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1092200"/>
            <a:ext cx="10795000" cy="50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u="none">
                <a:solidFill>
                  <a:srgbClr val="1B2028"/>
                </a:solidFill>
                <a:latin typeface="JetBrains Mono"/>
              </a:rPr>
              <a:t>프로젝트 성과 및 기술적 역량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968500"/>
            <a:ext cx="3175000" cy="1397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5500" y="2070100"/>
            <a:ext cx="2921000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1F2F4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2298700"/>
            <a:ext cx="2921000" cy="889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F1F2F4"/>
                </a:solidFill>
                <a:latin typeface="JetBrains Mono"/>
              </a:rPr>
              <a:t>제조 센서 데이터 분석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F1F2F4"/>
                </a:solidFill>
                <a:latin typeface="JetBrains Mono"/>
              </a:rPr>
              <a:t>파이프라인 구축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0" y="1968500"/>
            <a:ext cx="3175000" cy="1397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35500" y="2070100"/>
            <a:ext cx="2921000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237959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5500" y="2298700"/>
            <a:ext cx="2921000" cy="889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2028"/>
                </a:solidFill>
                <a:latin typeface="JetBrains Mono"/>
              </a:rPr>
              <a:t>불균형 데이터 대응 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2028"/>
                </a:solidFill>
                <a:latin typeface="JetBrains Mono"/>
              </a:rPr>
              <a:t>ML 모델 적용 경험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1968500"/>
            <a:ext cx="3175000" cy="1397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45500" y="2070100"/>
            <a:ext cx="2921000" cy="177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237959"/>
                </a:solidFill>
                <a:latin typeface="JetBrain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5500" y="2298700"/>
            <a:ext cx="2921000" cy="889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2028"/>
                </a:solidFill>
                <a:latin typeface="JetBrains Mono"/>
              </a:rPr>
              <a:t>데이터 기반 품질 관리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1B2028"/>
                </a:solidFill>
                <a:latin typeface="JetBrains Mono"/>
              </a:rPr>
              <a:t>의사결정 체계 확보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8500" y="3746500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8500" y="3898900"/>
            <a:ext cx="21590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u="none">
                <a:solidFill>
                  <a:srgbClr val="3466B2"/>
                </a:solidFill>
                <a:latin typeface="JetBrains Mono"/>
              </a:rPr>
              <a:t>핵심 기술 역량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500" y="4140200"/>
            <a:ext cx="5207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 dirty="0">
                <a:solidFill>
                  <a:srgbClr val="1B2028"/>
                </a:solidFill>
                <a:latin typeface="JetBrains Mono"/>
              </a:rPr>
              <a:t>Python · Pandas · Scikit-learn  · Random Forest · SHAP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500" y="4572000"/>
            <a:ext cx="5207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B2028"/>
                </a:solidFill>
                <a:latin typeface="JetBrains Mono"/>
              </a:rPr>
              <a:t>센서 데이터 전처리 · 불량 예측 모델링 · 주요 인자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500" y="5003800"/>
            <a:ext cx="5207000" cy="330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B2028"/>
                </a:solidFill>
                <a:latin typeface="JetBrains Mono"/>
              </a:rPr>
              <a:t>공정 품질 개선 기여 · 데이터 기반 의사결정 지원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3898900"/>
            <a:ext cx="4762500" cy="1524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0" y="4025900"/>
            <a:ext cx="45085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u="none">
                <a:solidFill>
                  <a:srgbClr val="4B525C"/>
                </a:solidFill>
                <a:latin typeface="JetBrains Mono"/>
              </a:rPr>
              <a:t>프로젝트 요약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41800"/>
            <a:ext cx="4508500" cy="10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1B2028"/>
                </a:solidFill>
                <a:latin typeface="JetBrains Mono"/>
              </a:rPr>
              <a:t>디스플레이 팹 공정 센서 데이터를 활용하여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1B2028"/>
                </a:solidFill>
                <a:latin typeface="JetBrains Mono"/>
              </a:rPr>
              <a:t>불량 예측 ML 파이프라인을 설계·구현하고,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1B2028"/>
                </a:solidFill>
                <a:latin typeface="JetBrains Mono"/>
              </a:rPr>
              <a:t>SHAP 기반 주요 인자 분석으로 품질 관리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1B2028"/>
                </a:solidFill>
                <a:latin typeface="JetBrains Mono"/>
              </a:rPr>
              <a:t>의사결정에 기여한 엔지니어링 프로젝트.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98000" y="0"/>
            <a:ext cx="2794000" cy="50800"/>
          </a:xfrm>
          <a:prstGeom prst="rect">
            <a:avLst/>
          </a:prstGeom>
          <a:solidFill>
            <a:srgbClr val="34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8500" y="1012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8500" y="5838825"/>
            <a:ext cx="10795000" cy="6350"/>
          </a:xfrm>
          <a:prstGeom prst="rect">
            <a:avLst/>
          </a:prstGeom>
          <a:solidFill>
            <a:srgbClr val="DD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254000"/>
            <a:ext cx="1270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95000" y="254000"/>
            <a:ext cx="635000" cy="88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u="none">
                <a:solidFill>
                  <a:srgbClr val="4B525C"/>
                </a:solidFill>
                <a:latin typeface="JetBrains Mono"/>
              </a:rPr>
              <a:t>// 12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98500" y="3683000"/>
            <a:ext cx="25400" cy="38100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8500" y="4318000"/>
            <a:ext cx="25400" cy="38100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8500" y="4953000"/>
            <a:ext cx="25400" cy="381000"/>
          </a:xfrm>
          <a:prstGeom prst="rect">
            <a:avLst/>
          </a:prstGeom>
          <a:solidFill>
            <a:srgbClr val="237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8500" y="1270000"/>
            <a:ext cx="8255000" cy="977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u="none">
                <a:solidFill>
                  <a:srgbClr val="1B2028"/>
                </a:solidFill>
                <a:latin typeface="JetBrains Mono"/>
              </a:rPr>
              <a:t>데이터 기반의 품질 엔지니어로의 성장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" y="2476500"/>
            <a:ext cx="8255000" cy="558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B525C"/>
                </a:solidFill>
                <a:latin typeface="IBM Plex Sans"/>
              </a:rPr>
              <a:t>이 프로젝트를 통해 제조 현장의 센서 데이터를 분석하고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4B525C"/>
                </a:solidFill>
                <a:latin typeface="IBM Plex Sans"/>
              </a:rPr>
              <a:t>불량 예측 및 핵심 인자 도출까지 수행한 경험을 쌓았습니다.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2352" y="3714750"/>
            <a:ext cx="5715000" cy="18605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ko-KR" altLang="ko-KR" sz="1400" b="1" dirty="0"/>
              <a:t>공정 데이터 기반 이상 원인 분석 역량</a:t>
            </a:r>
            <a:br>
              <a:rPr lang="ko-KR" altLang="ko-KR" sz="1400" dirty="0"/>
            </a:br>
            <a:r>
              <a:rPr lang="ko-KR" altLang="ko-KR" sz="1400" dirty="0"/>
              <a:t>센서 데이터의 분포와 모델 영향도를 분석하여 불량과 관련된 주요 변수 후보를 도출하였습니다.</a:t>
            </a:r>
            <a:endParaRPr lang="en-US" altLang="ko-KR" sz="1400" dirty="0"/>
          </a:p>
          <a:p>
            <a:endParaRPr lang="ko-KR" altLang="ko-KR" sz="1400" dirty="0"/>
          </a:p>
          <a:p>
            <a:r>
              <a:rPr lang="ko-KR" altLang="ko-KR" sz="1400" b="1" dirty="0"/>
              <a:t>데이터 기반 품질 분석 경험</a:t>
            </a:r>
            <a:br>
              <a:rPr lang="ko-KR" altLang="ko-KR" sz="1400" dirty="0"/>
            </a:br>
            <a:r>
              <a:rPr lang="ko-KR" altLang="ko-KR" sz="1400" dirty="0"/>
              <a:t>불균형 데이터를 고려한 불량 예측과 </a:t>
            </a:r>
            <a:r>
              <a:rPr lang="ko-KR" altLang="ko-KR" sz="1400" dirty="0" err="1"/>
              <a:t>Feature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Importance</a:t>
            </a:r>
            <a:r>
              <a:rPr lang="ko-KR" altLang="ko-KR" sz="1400" dirty="0"/>
              <a:t> 및 SHAP 분석을 통해 주요 관리 변수 선정 과정을 경험하였습니다.</a:t>
            </a:r>
          </a:p>
          <a:p>
            <a:endParaRPr lang="en-US" altLang="ko-KR" sz="1400" b="1" dirty="0"/>
          </a:p>
          <a:p>
            <a:r>
              <a:rPr lang="ko-KR" altLang="ko-KR" sz="1400" b="1" dirty="0"/>
              <a:t>품질 엔지니어로의 확장</a:t>
            </a:r>
            <a:br>
              <a:rPr lang="ko-KR" altLang="ko-KR" sz="1400" dirty="0"/>
            </a:br>
            <a:r>
              <a:rPr lang="ko-KR" altLang="ko-KR" sz="1400" dirty="0"/>
              <a:t>제조 공정 데이터를 기반으로 이상 징후를 분석하고, 데이터 기반 품질 개선 활동으로 연결할 수 있는 역량을 지속적으로 확장하고자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1096</Words>
  <Application>Microsoft Office PowerPoint</Application>
  <PresentationFormat>와이드스크린</PresentationFormat>
  <Paragraphs>226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JetBrains Mono</vt:lpstr>
      <vt:lpstr>맑은 고딕</vt:lpstr>
      <vt:lpstr>Arial</vt:lpstr>
      <vt:lpstr>Calibri</vt:lpstr>
      <vt:lpstr>IBM Plex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양진희</dc:creator>
  <cp:keywords/>
  <dc:description>generated using python-pptx</dc:description>
  <cp:lastModifiedBy>진희 양</cp:lastModifiedBy>
  <cp:revision>21</cp:revision>
  <dcterms:created xsi:type="dcterms:W3CDTF">2013-01-27T09:14:16Z</dcterms:created>
  <dcterms:modified xsi:type="dcterms:W3CDTF">2026-08-10T12:53:02Z</dcterms:modified>
  <cp:category/>
</cp:coreProperties>
</file>